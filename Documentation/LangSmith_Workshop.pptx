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8" r:id="rId3"/>
    <p:sldId id="259" r:id="rId4"/>
    <p:sldId id="262" r:id="rId5"/>
    <p:sldId id="263" r:id="rId6"/>
    <p:sldId id="265" r:id="rId7"/>
    <p:sldId id="267"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898" autoAdjust="0"/>
  </p:normalViewPr>
  <p:slideViewPr>
    <p:cSldViewPr snapToGrid="0">
      <p:cViewPr>
        <p:scale>
          <a:sx n="83" d="100"/>
          <a:sy n="83" d="100"/>
        </p:scale>
        <p:origin x="408"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n Escobar" userId="b6f895f1d5deeaa5" providerId="LiveId" clId="{3EA7EF36-AB89-4E8B-82A4-D2069269EB78}"/>
    <pc:docChg chg="custSel delSld modSld">
      <pc:chgData name="Marien Escobar" userId="b6f895f1d5deeaa5" providerId="LiveId" clId="{3EA7EF36-AB89-4E8B-82A4-D2069269EB78}" dt="2026-10-13T14:15:30.665" v="23" actId="47"/>
      <pc:docMkLst>
        <pc:docMk/>
      </pc:docMkLst>
      <pc:sldChg chg="delSp mod">
        <pc:chgData name="Marien Escobar" userId="b6f895f1d5deeaa5" providerId="LiveId" clId="{3EA7EF36-AB89-4E8B-82A4-D2069269EB78}" dt="2026-10-12T22:35:47.578" v="18" actId="478"/>
        <pc:sldMkLst>
          <pc:docMk/>
          <pc:sldMk cId="1581385485" sldId="256"/>
        </pc:sldMkLst>
        <pc:spChg chg="del">
          <ac:chgData name="Marien Escobar" userId="b6f895f1d5deeaa5" providerId="LiveId" clId="{3EA7EF36-AB89-4E8B-82A4-D2069269EB78}" dt="2026-10-12T22:35:47.578" v="18" actId="478"/>
          <ac:spMkLst>
            <pc:docMk/>
            <pc:sldMk cId="1581385485" sldId="256"/>
            <ac:spMk id="6" creationId="{DBF00337-D8FF-4D93-8018-C6A42E766001}"/>
          </ac:spMkLst>
        </pc:spChg>
      </pc:sldChg>
      <pc:sldChg chg="del">
        <pc:chgData name="Marien Escobar" userId="b6f895f1d5deeaa5" providerId="LiveId" clId="{3EA7EF36-AB89-4E8B-82A4-D2069269EB78}" dt="2026-10-12T22:35:55.111" v="19" actId="2696"/>
        <pc:sldMkLst>
          <pc:docMk/>
          <pc:sldMk cId="984989341" sldId="257"/>
        </pc:sldMkLst>
      </pc:sldChg>
      <pc:sldChg chg="del">
        <pc:chgData name="Marien Escobar" userId="b6f895f1d5deeaa5" providerId="LiveId" clId="{3EA7EF36-AB89-4E8B-82A4-D2069269EB78}" dt="2026-10-12T22:29:21.948" v="1" actId="2696"/>
        <pc:sldMkLst>
          <pc:docMk/>
          <pc:sldMk cId="77815504" sldId="260"/>
        </pc:sldMkLst>
      </pc:sldChg>
      <pc:sldChg chg="del">
        <pc:chgData name="Marien Escobar" userId="b6f895f1d5deeaa5" providerId="LiveId" clId="{3EA7EF36-AB89-4E8B-82A4-D2069269EB78}" dt="2026-10-12T22:28:59.426" v="0" actId="2696"/>
        <pc:sldMkLst>
          <pc:docMk/>
          <pc:sldMk cId="1609673844" sldId="261"/>
        </pc:sldMkLst>
      </pc:sldChg>
      <pc:sldChg chg="modSp mod">
        <pc:chgData name="Marien Escobar" userId="b6f895f1d5deeaa5" providerId="LiveId" clId="{3EA7EF36-AB89-4E8B-82A4-D2069269EB78}" dt="2026-10-12T22:30:08.699" v="14" actId="20577"/>
        <pc:sldMkLst>
          <pc:docMk/>
          <pc:sldMk cId="237741106" sldId="263"/>
        </pc:sldMkLst>
        <pc:spChg chg="mod">
          <ac:chgData name="Marien Escobar" userId="b6f895f1d5deeaa5" providerId="LiveId" clId="{3EA7EF36-AB89-4E8B-82A4-D2069269EB78}" dt="2026-10-12T22:30:08.699" v="14" actId="20577"/>
          <ac:spMkLst>
            <pc:docMk/>
            <pc:sldMk cId="237741106" sldId="263"/>
            <ac:spMk id="6" creationId="{145389C3-CC76-477D-A5B2-3D1D05AB3809}"/>
          </ac:spMkLst>
        </pc:spChg>
      </pc:sldChg>
      <pc:sldChg chg="del">
        <pc:chgData name="Marien Escobar" userId="b6f895f1d5deeaa5" providerId="LiveId" clId="{3EA7EF36-AB89-4E8B-82A4-D2069269EB78}" dt="2026-10-13T14:15:30.665" v="23" actId="47"/>
        <pc:sldMkLst>
          <pc:docMk/>
          <pc:sldMk cId="2091785331" sldId="264"/>
        </pc:sldMkLst>
      </pc:sldChg>
      <pc:sldChg chg="del">
        <pc:chgData name="Marien Escobar" userId="b6f895f1d5deeaa5" providerId="LiveId" clId="{3EA7EF36-AB89-4E8B-82A4-D2069269EB78}" dt="2026-10-13T14:15:24.254" v="22" actId="47"/>
        <pc:sldMkLst>
          <pc:docMk/>
          <pc:sldMk cId="125279407" sldId="266"/>
        </pc:sldMkLst>
      </pc:sldChg>
      <pc:sldChg chg="del">
        <pc:chgData name="Marien Escobar" userId="b6f895f1d5deeaa5" providerId="LiveId" clId="{3EA7EF36-AB89-4E8B-82A4-D2069269EB78}" dt="2026-10-13T14:15:11.842" v="21" actId="47"/>
        <pc:sldMkLst>
          <pc:docMk/>
          <pc:sldMk cId="1390366478" sldId="268"/>
        </pc:sldMkLst>
      </pc:sldChg>
      <pc:sldChg chg="del">
        <pc:chgData name="Marien Escobar" userId="b6f895f1d5deeaa5" providerId="LiveId" clId="{3EA7EF36-AB89-4E8B-82A4-D2069269EB78}" dt="2026-10-13T14:15:08.906" v="20" actId="47"/>
        <pc:sldMkLst>
          <pc:docMk/>
          <pc:sldMk cId="1163815050" sldId="269"/>
        </pc:sldMkLst>
      </pc:sldChg>
      <pc:sldChg chg="del">
        <pc:chgData name="Marien Escobar" userId="b6f895f1d5deeaa5" providerId="LiveId" clId="{3EA7EF36-AB89-4E8B-82A4-D2069269EB78}" dt="2026-10-12T22:35:10.917" v="15" actId="2696"/>
        <pc:sldMkLst>
          <pc:docMk/>
          <pc:sldMk cId="2146454223" sldId="270"/>
        </pc:sldMkLst>
      </pc:sldChg>
      <pc:sldChg chg="del">
        <pc:chgData name="Marien Escobar" userId="b6f895f1d5deeaa5" providerId="LiveId" clId="{3EA7EF36-AB89-4E8B-82A4-D2069269EB78}" dt="2026-10-12T22:35:26.216" v="16" actId="2696"/>
        <pc:sldMkLst>
          <pc:docMk/>
          <pc:sldMk cId="2133419820" sldId="272"/>
        </pc:sldMkLst>
      </pc:sldChg>
      <pc:sldChg chg="del">
        <pc:chgData name="Marien Escobar" userId="b6f895f1d5deeaa5" providerId="LiveId" clId="{3EA7EF36-AB89-4E8B-82A4-D2069269EB78}" dt="2026-10-12T22:35:31.743" v="17" actId="2696"/>
        <pc:sldMkLst>
          <pc:docMk/>
          <pc:sldMk cId="2100358670"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1 minute. Ask: How do you currently know whether an LLM application is working? This workshop assumes a developer audience familiar with basic LLM calls. The example policy and assistant outputs are fictional teaching material.</a:t>
            </a:r>
          </a:p>
          <a:p>
            <a:endParaRPr/>
          </a:p>
          <a:p>
            <a:r>
              <a:t>Sources (accessed October 12, 2026):</a:t>
            </a:r>
          </a:p>
          <a:p>
            <a:r>
              <a:t>https://www.langchain.com/resources/what-is-langsmith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Distinguish LangChain as an application framework, LangGraph as an agent orchestration framework and LangSmith as the engineering platform. Observability supports integrations beyond LangChain. Deployment is optional for this workshop.</a:t>
            </a:r>
          </a:p>
          <a:p>
            <a:endParaRPr/>
          </a:p>
          <a:p>
            <a:r>
              <a:t>Sources (accessed October 12, 2026):</a:t>
            </a:r>
          </a:p>
          <a:p>
            <a:r>
              <a:t>https://www.langchain.com/resources/what-is-langsmith</a:t>
            </a:r>
          </a:p>
          <a:p>
            <a:r>
              <a:t>https://docs.langchain.com/langsmith/observability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minutes. This is a fictional support policy. A customer purchased a device 45 days ago. The policy permits a refund within 30 days. The baseline assistant incorrectly says the purchase qualifies. RAG means retrieval-augmented generation: retrieving documents before producing an answer.</a:t>
            </a:r>
          </a:p>
          <a:p>
            <a:endParaRPr/>
          </a:p>
          <a:p>
            <a:r>
              <a:t>Sources (accessed October 12,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block, 4 minutes. Ask attendees to propose a cause before opening the trace. Check whether retrieval returned the right policy. Inspect the exact model input. If tools are present, inspect arguments and results. Diagnose the observed failure instead of changing the prompt immediately.</a:t>
            </a:r>
          </a:p>
          <a:p>
            <a:endParaRPr/>
          </a:p>
          <a:p>
            <a:r>
              <a:t>Sources (accessed October 12, 2026):</a:t>
            </a:r>
          </a:p>
          <a:p>
            <a:r>
              <a:t>https://docs.langchain.com/langsmith/observability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block, 8 minutes. Open a prepared failing trace. Read the request and answer. Inspect retrieval inputs and returned documents. Inspect the final model input. Demonstrate whichever failure actually occurred. For the planned fictional example, use a prepared trace where the correct policy appears but the model ignores the date. Ask attendees to identify the evidence. Show timing and token usage where available. Save the failure to the dataset.</a:t>
            </a:r>
          </a:p>
          <a:p>
            <a:endParaRPr/>
          </a:p>
          <a:p>
            <a:r>
              <a:t>Sources (accessed October 12, 2026):</a:t>
            </a:r>
          </a:p>
          <a:p>
            <a:r>
              <a:t>https://docs.langchain.com/langsmith/observability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block, 4 minutes. Demonstrate a format check and a rubric-based quality evaluator. Explain that code checks are precise for deterministic properties, humans assess ambiguous outputs, and model judges apply a rubric at scale. Validate the judge on examples independently reviewed by people. A fluent answer can still be wrong.</a:t>
            </a:r>
          </a:p>
          <a:p>
            <a:endParaRPr/>
          </a:p>
          <a:p>
            <a:r>
              <a:t>Sources (accessed October 12, 2026):</a:t>
            </a:r>
          </a:p>
          <a:p>
            <a:r>
              <a:t>https://docs.langchain.com/langsmith/evaluation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block, 4 minutes. In the Playground, edit the prompt to explicitly calculate elapsed days, apply the policy and ask when a required date is missing. Save the version. Run both versions on the same dataset with the same evaluators. Keep the dataset, model configuration and evaluator versions recorded. A prompt cannot repair missing or incorrect retrieval context by itself.</a:t>
            </a:r>
          </a:p>
          <a:p>
            <a:endParaRPr/>
          </a:p>
          <a:p>
            <a:r>
              <a:t>Sources (accessed October 12, 2026):</a:t>
            </a:r>
          </a:p>
          <a:p>
            <a:r>
              <a:t>https://docs.langchain.com/langsmith/prompt-context-hub</a:t>
            </a:r>
          </a:p>
          <a:p>
            <a:r>
              <a:t>https://docs.langchain.com/langsmith/evaluation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during the exercise debrief or as an optional follow-up. Choose what data to record and redact sensitive fields before tracing. Use metadata to distinguish application versions and environments. Control evaluator volume with filters and sampling. Explain that LangSmith deployment is a separate topic and can be omitted when the application runs elsewhere.</a:t>
            </a:r>
          </a:p>
          <a:p>
            <a:endParaRPr/>
          </a:p>
          <a:p>
            <a:r>
              <a:t>Sources (accessed October 12, 2026):</a:t>
            </a:r>
          </a:p>
          <a:p>
            <a:r>
              <a:t>https://docs.langchain.com/langsmith/observability</a:t>
            </a:r>
          </a:p>
          <a:p>
            <a:r>
              <a:t>https://docs.langchain.com/langsmith/evaluation</a:t>
            </a:r>
          </a:p>
          <a:p>
            <a:r>
              <a:t>https://www.langchain.com/resources/what-is-langsmith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D2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01AF75-CB1E-498C-B6C2-0E70E1DC7BBD}"/>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LangSmith</a:t>
            </a:r>
          </a:p>
        </p:txBody>
      </p:sp>
      <p:sp>
        <p:nvSpPr>
          <p:cNvPr id="2" name="Rectangle 1">
            <a:extLst>
              <a:ext uri="{FF2B5EF4-FFF2-40B4-BE49-F238E27FC236}">
                <a16:creationId xmlns:a16="http://schemas.microsoft.com/office/drawing/2014/main" id="{E95A92DE-5DF5-40C5-9B8C-2D6CF09792C9}"/>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A9E4CD"/>
                </a:solidFill>
                <a:latin typeface="Arial"/>
                <a:ea typeface="Arial"/>
                <a:cs typeface="Arial"/>
              </a:defRPr>
            </a:pPr>
            <a:r>
              <a:rPr sz="1350" b="0">
                <a:solidFill>
                  <a:srgbClr val="A9E4CD"/>
                </a:solidFill>
                <a:latin typeface="Arial"/>
                <a:ea typeface="Arial"/>
                <a:cs typeface="Arial"/>
              </a:rPr>
              <a:t>01</a:t>
            </a:r>
          </a:p>
        </p:txBody>
      </p:sp>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5438AA22-FDBF-4AB8-978A-648F5AB9BA57}"/>
              </a:ext>
            </a:extLst>
          </p:cNvPr>
          <p:cNvSpPr>
            <a:spLocks noGrp="1"/>
          </p:cNvSpPr>
          <p:nvPr/>
        </p:nvSpPr>
        <p:spPr>
          <a:xfrm>
            <a:off x="685800" y="1809750"/>
            <a:ext cx="7620000" cy="1047750"/>
          </a:xfrm>
          <a:prstGeom prst="rect">
            <a:avLst/>
          </a:prstGeom>
          <a:noFill/>
          <a:ln w="0">
            <a:noFill/>
          </a:ln>
        </p:spPr>
        <p:txBody>
          <a:bodyPr>
            <a:noAutofit/>
          </a:bodyPr>
          <a:lstStyle/>
          <a:p>
            <a:pPr>
              <a:defRPr sz="5700" b="1">
                <a:solidFill>
                  <a:srgbClr val="FFFFFF"/>
                </a:solidFill>
                <a:latin typeface="Arial"/>
                <a:ea typeface="Arial"/>
                <a:cs typeface="Arial"/>
              </a:defRPr>
            </a:pPr>
            <a:r>
              <a:rPr sz="5700" b="1">
                <a:solidFill>
                  <a:srgbClr val="FFFFFF"/>
                </a:solidFill>
                <a:latin typeface="Arial"/>
                <a:ea typeface="Arial"/>
                <a:cs typeface="Arial"/>
              </a:rPr>
              <a:t>LangSmith</a:t>
            </a:r>
          </a:p>
        </p:txBody>
      </p:sp>
      <p:sp>
        <p:nvSpPr>
          <p:cNvPr id="5" name="Rectangle 4">
            <a:extLst>
              <a:ext uri="{FF2B5EF4-FFF2-40B4-BE49-F238E27FC236}">
                <a16:creationId xmlns:a16="http://schemas.microsoft.com/office/drawing/2014/main" id="{5D18D9AF-963D-4732-ADE3-B88EDABF2A80}"/>
              </a:ext>
            </a:extLst>
          </p:cNvPr>
          <p:cNvSpPr>
            <a:spLocks noGrp="1"/>
          </p:cNvSpPr>
          <p:nvPr/>
        </p:nvSpPr>
        <p:spPr>
          <a:xfrm>
            <a:off x="685800" y="3048000"/>
            <a:ext cx="7715250" cy="952500"/>
          </a:xfrm>
          <a:prstGeom prst="rect">
            <a:avLst/>
          </a:prstGeom>
          <a:noFill/>
          <a:ln w="0">
            <a:noFill/>
          </a:ln>
        </p:spPr>
        <p:txBody>
          <a:bodyPr>
            <a:noAutofit/>
          </a:bodyPr>
          <a:lstStyle/>
          <a:p>
            <a:pPr>
              <a:defRPr sz="2700" b="0">
                <a:solidFill>
                  <a:srgbClr val="A9E4CD"/>
                </a:solidFill>
                <a:latin typeface="Arial"/>
                <a:ea typeface="Arial"/>
                <a:cs typeface="Arial"/>
              </a:defRPr>
            </a:pPr>
            <a:r>
              <a:rPr sz="2700" b="0">
                <a:solidFill>
                  <a:srgbClr val="A9E4CD"/>
                </a:solidFill>
                <a:latin typeface="Arial"/>
                <a:ea typeface="Arial"/>
                <a:cs typeface="Arial"/>
              </a:rPr>
              <a:t>Tracing and evaluating LLM applications</a:t>
            </a:r>
          </a:p>
        </p:txBody>
      </p:sp>
    </p:spTree>
    <p:extLst>
      <p:ext uri="{BB962C8B-B14F-4D97-AF65-F5344CB8AC3E}">
        <p14:creationId xmlns:p14="http://schemas.microsoft.com/office/powerpoint/2010/main" val="1581385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65CE7E-5FBB-4317-9D4B-95EFB23C764C}"/>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LangSmith in the application stack</a:t>
            </a:r>
          </a:p>
        </p:txBody>
      </p:sp>
      <p:sp>
        <p:nvSpPr>
          <p:cNvPr id="2" name="Rectangle 1">
            <a:extLst>
              <a:ext uri="{FF2B5EF4-FFF2-40B4-BE49-F238E27FC236}">
                <a16:creationId xmlns:a16="http://schemas.microsoft.com/office/drawing/2014/main" id="{C8477E0E-E350-40BC-A9E6-10A96D7FBB34}"/>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03</a:t>
            </a:r>
          </a:p>
        </p:txBody>
      </p:sp>
      <p:sp>
        <p:nvSpPr>
          <p:cNvPr id="3" name="Rectangle 2">
            <a:extLst>
              <a:ext uri="{FF2B5EF4-FFF2-40B4-BE49-F238E27FC236}">
                <a16:creationId xmlns:a16="http://schemas.microsoft.com/office/drawing/2014/main" id="{B47436CF-B013-401C-826A-9A247CF0BA93}"/>
              </a:ext>
            </a:extLst>
          </p:cNvPr>
          <p:cNvSpPr>
            <a:spLocks noGrp="1"/>
          </p:cNvSpPr>
          <p:nvPr/>
        </p:nvSpPr>
        <p:spPr>
          <a:xfrm>
            <a:off x="685800" y="190500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Observability</a:t>
            </a:r>
          </a:p>
        </p:txBody>
      </p:sp>
      <p:sp>
        <p:nvSpPr>
          <p:cNvPr id="4" name="Rectangle 3">
            <a:extLst>
              <a:ext uri="{FF2B5EF4-FFF2-40B4-BE49-F238E27FC236}">
                <a16:creationId xmlns:a16="http://schemas.microsoft.com/office/drawing/2014/main" id="{84006EE4-6A02-42F6-9C4F-66F2477CF485}"/>
              </a:ext>
            </a:extLst>
          </p:cNvPr>
          <p:cNvSpPr>
            <a:spLocks noGrp="1"/>
          </p:cNvSpPr>
          <p:nvPr/>
        </p:nvSpPr>
        <p:spPr>
          <a:xfrm>
            <a:off x="3714750" y="190500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Inspect model calls, retrieved context and tool execution.</a:t>
            </a:r>
          </a:p>
        </p:txBody>
      </p:sp>
      <p:sp>
        <p:nvSpPr>
          <p:cNvPr id="5" name="Rectangle 4">
            <a:extLst>
              <a:ext uri="{FF2B5EF4-FFF2-40B4-BE49-F238E27FC236}">
                <a16:creationId xmlns:a16="http://schemas.microsoft.com/office/drawing/2014/main" id="{300058CB-6DEF-47B7-A796-8B47932CAF08}"/>
              </a:ext>
            </a:extLst>
          </p:cNvPr>
          <p:cNvSpPr>
            <a:spLocks noGrp="1"/>
          </p:cNvSpPr>
          <p:nvPr/>
        </p:nvSpPr>
        <p:spPr>
          <a:xfrm>
            <a:off x="685800" y="3190875"/>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Evaluation</a:t>
            </a:r>
          </a:p>
        </p:txBody>
      </p:sp>
      <p:sp>
        <p:nvSpPr>
          <p:cNvPr id="6" name="Rectangle 5">
            <a:extLst>
              <a:ext uri="{FF2B5EF4-FFF2-40B4-BE49-F238E27FC236}">
                <a16:creationId xmlns:a16="http://schemas.microsoft.com/office/drawing/2014/main" id="{37A5761E-7C59-48B6-AAFB-AF268083C951}"/>
              </a:ext>
            </a:extLst>
          </p:cNvPr>
          <p:cNvSpPr>
            <a:spLocks noGrp="1"/>
          </p:cNvSpPr>
          <p:nvPr/>
        </p:nvSpPr>
        <p:spPr>
          <a:xfrm>
            <a:off x="3714750" y="3190875"/>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Score outputs and compare application versions.</a:t>
            </a:r>
          </a:p>
        </p:txBody>
      </p:sp>
      <p:sp>
        <p:nvSpPr>
          <p:cNvPr id="7" name="Rectangle 6">
            <a:extLst>
              <a:ext uri="{FF2B5EF4-FFF2-40B4-BE49-F238E27FC236}">
                <a16:creationId xmlns:a16="http://schemas.microsoft.com/office/drawing/2014/main" id="{6BC77E63-70FD-46DC-8176-F36F0B12CCD3}"/>
              </a:ext>
            </a:extLst>
          </p:cNvPr>
          <p:cNvSpPr>
            <a:spLocks noGrp="1"/>
          </p:cNvSpPr>
          <p:nvPr/>
        </p:nvSpPr>
        <p:spPr>
          <a:xfrm>
            <a:off x="685800" y="447675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Deployment</a:t>
            </a:r>
          </a:p>
        </p:txBody>
      </p:sp>
      <p:sp>
        <p:nvSpPr>
          <p:cNvPr id="8" name="Rectangle 7">
            <a:extLst>
              <a:ext uri="{FF2B5EF4-FFF2-40B4-BE49-F238E27FC236}">
                <a16:creationId xmlns:a16="http://schemas.microsoft.com/office/drawing/2014/main" id="{369D2F76-C993-4EDE-B2A5-EF545F24213E}"/>
              </a:ext>
            </a:extLst>
          </p:cNvPr>
          <p:cNvSpPr>
            <a:spLocks noGrp="1"/>
          </p:cNvSpPr>
          <p:nvPr/>
        </p:nvSpPr>
        <p:spPr>
          <a:xfrm>
            <a:off x="3714750" y="447675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Run agents through the managed runtime.</a:t>
            </a:r>
          </a:p>
        </p:txBody>
      </p:sp>
    </p:spTree>
    <p:extLst>
      <p:ext uri="{BB962C8B-B14F-4D97-AF65-F5344CB8AC3E}">
        <p14:creationId xmlns:p14="http://schemas.microsoft.com/office/powerpoint/2010/main" val="220957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B62DBE-8A91-4B1E-994A-CA6D0015A123}"/>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The workshop example</a:t>
            </a:r>
          </a:p>
        </p:txBody>
      </p:sp>
      <p:sp>
        <p:nvSpPr>
          <p:cNvPr id="2" name="Rectangle 1">
            <a:extLst>
              <a:ext uri="{FF2B5EF4-FFF2-40B4-BE49-F238E27FC236}">
                <a16:creationId xmlns:a16="http://schemas.microsoft.com/office/drawing/2014/main" id="{AEDE0A8A-94EE-4E5A-B218-69E79BB38888}"/>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04</a:t>
            </a:r>
          </a:p>
        </p:txBody>
      </p:sp>
      <p:sp>
        <p:nvSpPr>
          <p:cNvPr id="3" name="Rectangle 2">
            <a:extLst>
              <a:ext uri="{FF2B5EF4-FFF2-40B4-BE49-F238E27FC236}">
                <a16:creationId xmlns:a16="http://schemas.microsoft.com/office/drawing/2014/main" id="{00782127-0C1C-482E-B6E0-4E3D408EF40D}"/>
              </a:ext>
            </a:extLst>
          </p:cNvPr>
          <p:cNvSpPr>
            <a:spLocks noGrp="1"/>
          </p:cNvSpPr>
          <p:nvPr/>
        </p:nvSpPr>
        <p:spPr>
          <a:xfrm>
            <a:off x="685800" y="1809750"/>
            <a:ext cx="4905375" cy="476250"/>
          </a:xfrm>
          <a:prstGeom prst="rect">
            <a:avLst/>
          </a:prstGeom>
          <a:noFill/>
          <a:ln w="0">
            <a:noFill/>
          </a:ln>
        </p:spPr>
        <p:txBody>
          <a:bodyPr>
            <a:noAutofit/>
          </a:bodyPr>
          <a:lstStyle/>
          <a:p>
            <a:pPr>
              <a:defRPr sz="2175" b="1">
                <a:solidFill>
                  <a:srgbClr val="16816B"/>
                </a:solidFill>
                <a:latin typeface="Arial"/>
                <a:ea typeface="Arial"/>
                <a:cs typeface="Arial"/>
              </a:defRPr>
            </a:pPr>
            <a:r>
              <a:rPr sz="2175" b="1">
                <a:solidFill>
                  <a:srgbClr val="16816B"/>
                </a:solidFill>
                <a:latin typeface="Arial"/>
                <a:ea typeface="Arial"/>
                <a:cs typeface="Arial"/>
              </a:rPr>
              <a:t>Customer question</a:t>
            </a:r>
          </a:p>
        </p:txBody>
      </p:sp>
      <p:sp>
        <p:nvSpPr>
          <p:cNvPr id="4" name="Rectangle 3">
            <a:extLst>
              <a:ext uri="{FF2B5EF4-FFF2-40B4-BE49-F238E27FC236}">
                <a16:creationId xmlns:a16="http://schemas.microsoft.com/office/drawing/2014/main" id="{B7707C44-D9E3-4A8F-B59C-DF3FFFAC9A6B}"/>
              </a:ext>
            </a:extLst>
          </p:cNvPr>
          <p:cNvSpPr>
            <a:spLocks noGrp="1"/>
          </p:cNvSpPr>
          <p:nvPr/>
        </p:nvSpPr>
        <p:spPr>
          <a:xfrm>
            <a:off x="685800" y="2476500"/>
            <a:ext cx="4905375" cy="2952750"/>
          </a:xfrm>
          <a:prstGeom prst="rect">
            <a:avLst/>
          </a:prstGeom>
          <a:noFill/>
          <a:ln w="0">
            <a:noFill/>
          </a:ln>
        </p:spPr>
        <p:txBody>
          <a:bodyPr>
            <a:noAutofit/>
          </a:bodyPr>
          <a:lstStyle/>
          <a:p>
            <a:pPr>
              <a:defRPr sz="2325" b="0">
                <a:solidFill>
                  <a:srgbClr val="163C36"/>
                </a:solidFill>
                <a:latin typeface="Arial"/>
                <a:ea typeface="Arial"/>
                <a:cs typeface="Arial"/>
              </a:defRPr>
            </a:pPr>
            <a:r>
              <a:rPr sz="2325" b="0">
                <a:solidFill>
                  <a:srgbClr val="163C36"/>
                </a:solidFill>
                <a:latin typeface="Arial"/>
                <a:ea typeface="Arial"/>
                <a:cs typeface="Arial"/>
              </a:rPr>
              <a:t>“I bought this device 45 days ago.</a:t>
            </a:r>
          </a:p>
          <a:p>
            <a:pPr>
              <a:defRPr sz="2325" b="0">
                <a:solidFill>
                  <a:srgbClr val="163C36"/>
                </a:solidFill>
                <a:latin typeface="Arial"/>
                <a:ea typeface="Arial"/>
                <a:cs typeface="Arial"/>
              </a:defRPr>
            </a:pPr>
            <a:r>
              <a:rPr sz="2325" b="0">
                <a:solidFill>
                  <a:srgbClr val="163C36"/>
                </a:solidFill>
                <a:latin typeface="Arial"/>
                <a:ea typeface="Arial"/>
                <a:cs typeface="Arial"/>
              </a:rPr>
              <a:t>Can I get a refund?”</a:t>
            </a:r>
          </a:p>
        </p:txBody>
      </p:sp>
      <p:sp>
        <p:nvSpPr>
          <p:cNvPr id="5" name="Rectangle 4">
            <a:extLst>
              <a:ext uri="{FF2B5EF4-FFF2-40B4-BE49-F238E27FC236}">
                <a16:creationId xmlns:a16="http://schemas.microsoft.com/office/drawing/2014/main" id="{FC2739A3-8175-44E8-96D7-4041053BFE4B}"/>
              </a:ext>
            </a:extLst>
          </p:cNvPr>
          <p:cNvSpPr>
            <a:spLocks noGrp="1"/>
          </p:cNvSpPr>
          <p:nvPr/>
        </p:nvSpPr>
        <p:spPr>
          <a:xfrm>
            <a:off x="6477000" y="1809750"/>
            <a:ext cx="4905375" cy="476250"/>
          </a:xfrm>
          <a:prstGeom prst="rect">
            <a:avLst/>
          </a:prstGeom>
          <a:noFill/>
          <a:ln w="0">
            <a:noFill/>
          </a:ln>
        </p:spPr>
        <p:txBody>
          <a:bodyPr>
            <a:noAutofit/>
          </a:bodyPr>
          <a:lstStyle/>
          <a:p>
            <a:pPr>
              <a:defRPr sz="2175" b="1">
                <a:solidFill>
                  <a:srgbClr val="16816B"/>
                </a:solidFill>
                <a:latin typeface="Arial"/>
                <a:ea typeface="Arial"/>
                <a:cs typeface="Arial"/>
              </a:defRPr>
            </a:pPr>
            <a:r>
              <a:rPr sz="2175" b="1">
                <a:solidFill>
                  <a:srgbClr val="16816B"/>
                </a:solidFill>
                <a:latin typeface="Arial"/>
                <a:ea typeface="Arial"/>
                <a:cs typeface="Arial"/>
              </a:rPr>
              <a:t>Policy excerpt</a:t>
            </a:r>
          </a:p>
        </p:txBody>
      </p:sp>
      <p:sp>
        <p:nvSpPr>
          <p:cNvPr id="6" name="Rectangle 5">
            <a:extLst>
              <a:ext uri="{FF2B5EF4-FFF2-40B4-BE49-F238E27FC236}">
                <a16:creationId xmlns:a16="http://schemas.microsoft.com/office/drawing/2014/main" id="{7686E8BE-E64A-400E-B2CB-60B90BDD9BC7}"/>
              </a:ext>
            </a:extLst>
          </p:cNvPr>
          <p:cNvSpPr>
            <a:spLocks noGrp="1"/>
          </p:cNvSpPr>
          <p:nvPr/>
        </p:nvSpPr>
        <p:spPr>
          <a:xfrm>
            <a:off x="6477000" y="2476500"/>
            <a:ext cx="4905375" cy="2952750"/>
          </a:xfrm>
          <a:prstGeom prst="rect">
            <a:avLst/>
          </a:prstGeom>
          <a:noFill/>
          <a:ln w="0">
            <a:noFill/>
          </a:ln>
        </p:spPr>
        <p:txBody>
          <a:bodyPr>
            <a:noAutofit/>
          </a:bodyPr>
          <a:lstStyle/>
          <a:p>
            <a:pPr>
              <a:defRPr sz="2325" b="0">
                <a:solidFill>
                  <a:srgbClr val="163C36"/>
                </a:solidFill>
                <a:latin typeface="Arial"/>
                <a:ea typeface="Arial"/>
                <a:cs typeface="Arial"/>
              </a:defRPr>
            </a:pPr>
            <a:r>
              <a:rPr sz="2325" b="0">
                <a:solidFill>
                  <a:srgbClr val="163C36"/>
                </a:solidFill>
                <a:latin typeface="Arial"/>
                <a:ea typeface="Arial"/>
                <a:cs typeface="Arial"/>
              </a:rPr>
              <a:t>“Refunds are available within</a:t>
            </a:r>
          </a:p>
          <a:p>
            <a:pPr>
              <a:defRPr sz="2325" b="0">
                <a:solidFill>
                  <a:srgbClr val="163C36"/>
                </a:solidFill>
                <a:latin typeface="Arial"/>
                <a:ea typeface="Arial"/>
                <a:cs typeface="Arial"/>
              </a:defRPr>
            </a:pPr>
            <a:r>
              <a:rPr sz="2325" b="0">
                <a:solidFill>
                  <a:srgbClr val="163C36"/>
                </a:solidFill>
                <a:latin typeface="Arial"/>
                <a:ea typeface="Arial"/>
                <a:cs typeface="Arial"/>
              </a:rPr>
              <a:t>30 days of purchase.”</a:t>
            </a:r>
          </a:p>
        </p:txBody>
      </p:sp>
      <p:sp>
        <p:nvSpPr>
          <p:cNvPr id="7" name="Rectangle 6">
            <a:extLst>
              <a:ext uri="{FF2B5EF4-FFF2-40B4-BE49-F238E27FC236}">
                <a16:creationId xmlns:a16="http://schemas.microsoft.com/office/drawing/2014/main" id="{ABD5001C-CE82-4D44-82A5-A4DC362D41E5}"/>
              </a:ext>
            </a:extLst>
          </p:cNvPr>
          <p:cNvSpPr>
            <a:spLocks noGrp="1"/>
          </p:cNvSpPr>
          <p:nvPr/>
        </p:nvSpPr>
        <p:spPr>
          <a:xfrm>
            <a:off x="685800" y="5619750"/>
            <a:ext cx="10477500" cy="619125"/>
          </a:xfrm>
          <a:prstGeom prst="rect">
            <a:avLst/>
          </a:prstGeom>
          <a:noFill/>
          <a:ln w="0">
            <a:noFill/>
          </a:ln>
        </p:spPr>
        <p:txBody>
          <a:bodyPr>
            <a:noAutofit/>
          </a:bodyPr>
          <a:lstStyle/>
          <a:p>
            <a:pPr>
              <a:defRPr sz="2250" b="1">
                <a:solidFill>
                  <a:srgbClr val="16816B"/>
                </a:solidFill>
                <a:latin typeface="Arial"/>
                <a:ea typeface="Arial"/>
                <a:cs typeface="Arial"/>
              </a:defRPr>
            </a:pPr>
            <a:r>
              <a:rPr sz="2250" b="1">
                <a:solidFill>
                  <a:srgbClr val="16816B"/>
                </a:solidFill>
                <a:latin typeface="Arial"/>
                <a:ea typeface="Arial"/>
                <a:cs typeface="Arial"/>
              </a:rPr>
              <a:t>Baseline answer: “Yes, you qualify for a refund.”</a:t>
            </a:r>
          </a:p>
        </p:txBody>
      </p:sp>
    </p:spTree>
    <p:extLst>
      <p:ext uri="{BB962C8B-B14F-4D97-AF65-F5344CB8AC3E}">
        <p14:creationId xmlns:p14="http://schemas.microsoft.com/office/powerpoint/2010/main" val="1637686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FF98CD9-FC88-440D-82CF-EE2C9974F6F6}"/>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A wrong answer has several possible causes</a:t>
            </a:r>
          </a:p>
        </p:txBody>
      </p:sp>
      <p:sp>
        <p:nvSpPr>
          <p:cNvPr id="2" name="Rectangle 1">
            <a:extLst>
              <a:ext uri="{FF2B5EF4-FFF2-40B4-BE49-F238E27FC236}">
                <a16:creationId xmlns:a16="http://schemas.microsoft.com/office/drawing/2014/main" id="{C3E1145E-939A-4281-9B5F-E39DE0A48D84}"/>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07</a:t>
            </a:r>
          </a:p>
        </p:txBody>
      </p:sp>
      <p:sp>
        <p:nvSpPr>
          <p:cNvPr id="3" name="Rectangle 2">
            <a:extLst>
              <a:ext uri="{FF2B5EF4-FFF2-40B4-BE49-F238E27FC236}">
                <a16:creationId xmlns:a16="http://schemas.microsoft.com/office/drawing/2014/main" id="{EACDFB96-7FB6-4309-8F76-36CA72DF5B3F}"/>
              </a:ext>
            </a:extLst>
          </p:cNvPr>
          <p:cNvSpPr>
            <a:spLocks noGrp="1"/>
          </p:cNvSpPr>
          <p:nvPr/>
        </p:nvSpPr>
        <p:spPr>
          <a:xfrm>
            <a:off x="685800" y="190500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Retrieval</a:t>
            </a:r>
          </a:p>
        </p:txBody>
      </p:sp>
      <p:sp>
        <p:nvSpPr>
          <p:cNvPr id="4" name="Rectangle 3">
            <a:extLst>
              <a:ext uri="{FF2B5EF4-FFF2-40B4-BE49-F238E27FC236}">
                <a16:creationId xmlns:a16="http://schemas.microsoft.com/office/drawing/2014/main" id="{8DCECFC8-CC47-4E1D-8552-13B0389AC321}"/>
              </a:ext>
            </a:extLst>
          </p:cNvPr>
          <p:cNvSpPr>
            <a:spLocks noGrp="1"/>
          </p:cNvSpPr>
          <p:nvPr/>
        </p:nvSpPr>
        <p:spPr>
          <a:xfrm>
            <a:off x="3714750" y="190500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Did the assistant receive the correct policy?</a:t>
            </a:r>
          </a:p>
        </p:txBody>
      </p:sp>
      <p:sp>
        <p:nvSpPr>
          <p:cNvPr id="5" name="Rectangle 4">
            <a:extLst>
              <a:ext uri="{FF2B5EF4-FFF2-40B4-BE49-F238E27FC236}">
                <a16:creationId xmlns:a16="http://schemas.microsoft.com/office/drawing/2014/main" id="{201A3DF9-90B7-4B19-816D-515748DCD372}"/>
              </a:ext>
            </a:extLst>
          </p:cNvPr>
          <p:cNvSpPr>
            <a:spLocks noGrp="1"/>
          </p:cNvSpPr>
          <p:nvPr/>
        </p:nvSpPr>
        <p:spPr>
          <a:xfrm>
            <a:off x="685800" y="3190875"/>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Model input</a:t>
            </a:r>
          </a:p>
        </p:txBody>
      </p:sp>
      <p:sp>
        <p:nvSpPr>
          <p:cNvPr id="6" name="Rectangle 5">
            <a:extLst>
              <a:ext uri="{FF2B5EF4-FFF2-40B4-BE49-F238E27FC236}">
                <a16:creationId xmlns:a16="http://schemas.microsoft.com/office/drawing/2014/main" id="{A64F68E5-CFCF-4786-B2E5-3748D91D3134}"/>
              </a:ext>
            </a:extLst>
          </p:cNvPr>
          <p:cNvSpPr>
            <a:spLocks noGrp="1"/>
          </p:cNvSpPr>
          <p:nvPr/>
        </p:nvSpPr>
        <p:spPr>
          <a:xfrm>
            <a:off x="3714750" y="3190875"/>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Did the prompt include the policy and purchase date?</a:t>
            </a:r>
          </a:p>
        </p:txBody>
      </p:sp>
      <p:sp>
        <p:nvSpPr>
          <p:cNvPr id="7" name="Rectangle 6">
            <a:extLst>
              <a:ext uri="{FF2B5EF4-FFF2-40B4-BE49-F238E27FC236}">
                <a16:creationId xmlns:a16="http://schemas.microsoft.com/office/drawing/2014/main" id="{704C51E2-3316-4D1E-B9A5-73A86F8EA7B5}"/>
              </a:ext>
            </a:extLst>
          </p:cNvPr>
          <p:cNvSpPr>
            <a:spLocks noGrp="1"/>
          </p:cNvSpPr>
          <p:nvPr/>
        </p:nvSpPr>
        <p:spPr>
          <a:xfrm>
            <a:off x="685800" y="447675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Execution</a:t>
            </a:r>
          </a:p>
        </p:txBody>
      </p:sp>
      <p:sp>
        <p:nvSpPr>
          <p:cNvPr id="8" name="Rectangle 7">
            <a:extLst>
              <a:ext uri="{FF2B5EF4-FFF2-40B4-BE49-F238E27FC236}">
                <a16:creationId xmlns:a16="http://schemas.microsoft.com/office/drawing/2014/main" id="{2C512062-6339-48D7-960D-19D8409FF615}"/>
              </a:ext>
            </a:extLst>
          </p:cNvPr>
          <p:cNvSpPr>
            <a:spLocks noGrp="1"/>
          </p:cNvSpPr>
          <p:nvPr/>
        </p:nvSpPr>
        <p:spPr>
          <a:xfrm>
            <a:off x="3714750" y="447675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Did a tool return an error or an unexpected result?</a:t>
            </a:r>
          </a:p>
        </p:txBody>
      </p:sp>
    </p:spTree>
    <p:extLst>
      <p:ext uri="{BB962C8B-B14F-4D97-AF65-F5344CB8AC3E}">
        <p14:creationId xmlns:p14="http://schemas.microsoft.com/office/powerpoint/2010/main" val="122346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45389C3-CC76-477D-A5B2-3D1D05AB3809}"/>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lang="en-US" sz="3300" b="1" dirty="0">
                <a:solidFill>
                  <a:srgbClr val="163C36"/>
                </a:solidFill>
                <a:latin typeface="Arial"/>
                <a:ea typeface="Arial"/>
                <a:cs typeface="Arial"/>
              </a:rPr>
              <a:t>F</a:t>
            </a:r>
            <a:r>
              <a:rPr sz="3300" b="1" dirty="0">
                <a:solidFill>
                  <a:srgbClr val="163C36"/>
                </a:solidFill>
                <a:latin typeface="Arial"/>
                <a:ea typeface="Arial"/>
                <a:cs typeface="Arial"/>
              </a:rPr>
              <a:t>inding the failing step</a:t>
            </a:r>
          </a:p>
        </p:txBody>
      </p:sp>
      <p:sp>
        <p:nvSpPr>
          <p:cNvPr id="2" name="Rectangle 1">
            <a:extLst>
              <a:ext uri="{FF2B5EF4-FFF2-40B4-BE49-F238E27FC236}">
                <a16:creationId xmlns:a16="http://schemas.microsoft.com/office/drawing/2014/main" id="{1351D573-A208-453E-B1DB-DE3A7D0A0EBD}"/>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08</a:t>
            </a:r>
          </a:p>
        </p:txBody>
      </p:sp>
      <p:sp>
        <p:nvSpPr>
          <p:cNvPr id="3" name="Rectangle 2">
            <a:extLst>
              <a:ext uri="{FF2B5EF4-FFF2-40B4-BE49-F238E27FC236}">
                <a16:creationId xmlns:a16="http://schemas.microsoft.com/office/drawing/2014/main" id="{E9713996-F8FF-4286-8555-7D66BBBCDB4A}"/>
              </a:ext>
            </a:extLst>
          </p:cNvPr>
          <p:cNvSpPr>
            <a:spLocks noGrp="1"/>
          </p:cNvSpPr>
          <p:nvPr/>
        </p:nvSpPr>
        <p:spPr>
          <a:xfrm>
            <a:off x="685800" y="1857375"/>
            <a:ext cx="6000750" cy="3619500"/>
          </a:xfrm>
          <a:prstGeom prst="rect">
            <a:avLst/>
          </a:prstGeom>
          <a:noFill/>
          <a:ln w="0">
            <a:noFill/>
          </a:ln>
        </p:spPr>
        <p:txBody>
          <a:bodyPr>
            <a:noAutofit/>
          </a:bodyPr>
          <a:lstStyle/>
          <a:p>
            <a:pPr>
              <a:defRPr sz="2550" b="0">
                <a:solidFill>
                  <a:srgbClr val="163C36"/>
                </a:solidFill>
                <a:latin typeface="Arial"/>
                <a:ea typeface="Arial"/>
                <a:cs typeface="Arial"/>
              </a:defRPr>
            </a:pPr>
            <a:r>
              <a:rPr sz="2550" b="0">
                <a:solidFill>
                  <a:srgbClr val="163C36"/>
                </a:solidFill>
                <a:latin typeface="Arial"/>
                <a:ea typeface="Arial"/>
                <a:cs typeface="Arial"/>
              </a:rPr>
              <a:t>Request and answer</a:t>
            </a:r>
          </a:p>
          <a:p>
            <a:endParaRPr sz="2550" b="0">
              <a:solidFill>
                <a:srgbClr val="163C36"/>
              </a:solidFill>
              <a:latin typeface="Arial"/>
              <a:ea typeface="Arial"/>
              <a:cs typeface="Arial"/>
            </a:endParaRPr>
          </a:p>
          <a:p>
            <a:pPr>
              <a:defRPr sz="2550" b="0">
                <a:solidFill>
                  <a:srgbClr val="163C36"/>
                </a:solidFill>
                <a:latin typeface="Arial"/>
                <a:ea typeface="Arial"/>
                <a:cs typeface="Arial"/>
              </a:defRPr>
            </a:pPr>
            <a:r>
              <a:rPr sz="2550" b="0">
                <a:solidFill>
                  <a:srgbClr val="163C36"/>
                </a:solidFill>
                <a:latin typeface="Arial"/>
                <a:ea typeface="Arial"/>
                <a:cs typeface="Arial"/>
              </a:rPr>
              <a:t>Retrieved policy</a:t>
            </a:r>
          </a:p>
          <a:p>
            <a:endParaRPr sz="2550" b="0">
              <a:solidFill>
                <a:srgbClr val="163C36"/>
              </a:solidFill>
              <a:latin typeface="Arial"/>
              <a:ea typeface="Arial"/>
              <a:cs typeface="Arial"/>
            </a:endParaRPr>
          </a:p>
          <a:p>
            <a:pPr>
              <a:defRPr sz="2550" b="0">
                <a:solidFill>
                  <a:srgbClr val="163C36"/>
                </a:solidFill>
                <a:latin typeface="Arial"/>
                <a:ea typeface="Arial"/>
                <a:cs typeface="Arial"/>
              </a:defRPr>
            </a:pPr>
            <a:r>
              <a:rPr sz="2550" b="0">
                <a:solidFill>
                  <a:srgbClr val="163C36"/>
                </a:solidFill>
                <a:latin typeface="Arial"/>
                <a:ea typeface="Arial"/>
                <a:cs typeface="Arial"/>
              </a:rPr>
              <a:t>Exact model input</a:t>
            </a:r>
          </a:p>
          <a:p>
            <a:endParaRPr sz="2550" b="0">
              <a:solidFill>
                <a:srgbClr val="163C36"/>
              </a:solidFill>
              <a:latin typeface="Arial"/>
              <a:ea typeface="Arial"/>
              <a:cs typeface="Arial"/>
            </a:endParaRPr>
          </a:p>
          <a:p>
            <a:pPr>
              <a:defRPr sz="2550" b="0">
                <a:solidFill>
                  <a:srgbClr val="163C36"/>
                </a:solidFill>
                <a:latin typeface="Arial"/>
                <a:ea typeface="Arial"/>
                <a:cs typeface="Arial"/>
              </a:defRPr>
            </a:pPr>
            <a:r>
              <a:rPr sz="2550" b="0">
                <a:solidFill>
                  <a:srgbClr val="163C36"/>
                </a:solidFill>
                <a:latin typeface="Arial"/>
                <a:ea typeface="Arial"/>
                <a:cs typeface="Arial"/>
              </a:rPr>
              <a:t>Evidence for the diagnosis</a:t>
            </a:r>
          </a:p>
        </p:txBody>
      </p:sp>
      <p:sp>
        <p:nvSpPr>
          <p:cNvPr id="4" name="Rectangle 3">
            <a:extLst>
              <a:ext uri="{FF2B5EF4-FFF2-40B4-BE49-F238E27FC236}">
                <a16:creationId xmlns:a16="http://schemas.microsoft.com/office/drawing/2014/main" id="{737D88AE-8F27-47E7-9286-CBC2E3D8A73C}"/>
              </a:ext>
            </a:extLst>
          </p:cNvPr>
          <p:cNvSpPr>
            <a:spLocks noGrp="1"/>
          </p:cNvSpPr>
          <p:nvPr/>
        </p:nvSpPr>
        <p:spPr>
          <a:xfrm>
            <a:off x="7620000" y="2047875"/>
            <a:ext cx="3571875" cy="476250"/>
          </a:xfrm>
          <a:prstGeom prst="rect">
            <a:avLst/>
          </a:prstGeom>
          <a:noFill/>
          <a:ln w="0">
            <a:noFill/>
          </a:ln>
        </p:spPr>
        <p:txBody>
          <a:bodyPr>
            <a:noAutofit/>
          </a:bodyPr>
          <a:lstStyle/>
          <a:p>
            <a:pPr>
              <a:defRPr sz="1950" b="1">
                <a:solidFill>
                  <a:srgbClr val="16816B"/>
                </a:solidFill>
                <a:latin typeface="Arial"/>
                <a:ea typeface="Arial"/>
                <a:cs typeface="Arial"/>
              </a:defRPr>
            </a:pPr>
            <a:r>
              <a:rPr sz="1950" b="1">
                <a:solidFill>
                  <a:srgbClr val="16816B"/>
                </a:solidFill>
                <a:latin typeface="Arial"/>
                <a:ea typeface="Arial"/>
                <a:cs typeface="Arial"/>
              </a:rPr>
              <a:t>Audience question</a:t>
            </a:r>
          </a:p>
        </p:txBody>
      </p:sp>
      <p:sp>
        <p:nvSpPr>
          <p:cNvPr id="5" name="Rectangle 4">
            <a:extLst>
              <a:ext uri="{FF2B5EF4-FFF2-40B4-BE49-F238E27FC236}">
                <a16:creationId xmlns:a16="http://schemas.microsoft.com/office/drawing/2014/main" id="{44D0A68E-1FAA-45E2-8781-1D658F814C84}"/>
              </a:ext>
            </a:extLst>
          </p:cNvPr>
          <p:cNvSpPr>
            <a:spLocks noGrp="1"/>
          </p:cNvSpPr>
          <p:nvPr/>
        </p:nvSpPr>
        <p:spPr>
          <a:xfrm>
            <a:off x="7620000" y="2714625"/>
            <a:ext cx="3667125" cy="1714500"/>
          </a:xfrm>
          <a:prstGeom prst="rect">
            <a:avLst/>
          </a:prstGeom>
          <a:noFill/>
          <a:ln w="0">
            <a:noFill/>
          </a:ln>
        </p:spPr>
        <p:txBody>
          <a:bodyPr>
            <a:noAutofit/>
          </a:bodyPr>
          <a:lstStyle/>
          <a:p>
            <a:pPr>
              <a:defRPr sz="2775" b="0">
                <a:solidFill>
                  <a:srgbClr val="163C36"/>
                </a:solidFill>
                <a:latin typeface="Arial"/>
                <a:ea typeface="Arial"/>
                <a:cs typeface="Arial"/>
              </a:defRPr>
            </a:pPr>
            <a:r>
              <a:rPr sz="2775" b="0">
                <a:solidFill>
                  <a:srgbClr val="163C36"/>
                </a:solidFill>
                <a:latin typeface="Arial"/>
                <a:ea typeface="Arial"/>
                <a:cs typeface="Arial"/>
              </a:rPr>
              <a:t>Which step explains</a:t>
            </a:r>
          </a:p>
          <a:p>
            <a:pPr>
              <a:defRPr sz="2775" b="0">
                <a:solidFill>
                  <a:srgbClr val="163C36"/>
                </a:solidFill>
                <a:latin typeface="Arial"/>
                <a:ea typeface="Arial"/>
                <a:cs typeface="Arial"/>
              </a:defRPr>
            </a:pPr>
            <a:r>
              <a:rPr sz="2775" b="0">
                <a:solidFill>
                  <a:srgbClr val="163C36"/>
                </a:solidFill>
                <a:latin typeface="Arial"/>
                <a:ea typeface="Arial"/>
                <a:cs typeface="Arial"/>
              </a:rPr>
              <a:t>the wrong answer?</a:t>
            </a:r>
          </a:p>
        </p:txBody>
      </p:sp>
    </p:spTree>
    <p:extLst>
      <p:ext uri="{BB962C8B-B14F-4D97-AF65-F5344CB8AC3E}">
        <p14:creationId xmlns:p14="http://schemas.microsoft.com/office/powerpoint/2010/main" val="237741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2C07F0C-663F-4999-A5AD-7E8A2C3DAAC7}"/>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Evaluator choices</a:t>
            </a:r>
          </a:p>
        </p:txBody>
      </p:sp>
      <p:sp>
        <p:nvSpPr>
          <p:cNvPr id="2" name="Rectangle 1">
            <a:extLst>
              <a:ext uri="{FF2B5EF4-FFF2-40B4-BE49-F238E27FC236}">
                <a16:creationId xmlns:a16="http://schemas.microsoft.com/office/drawing/2014/main" id="{0FBD3374-26E0-4211-BE3C-C21440CFD8E5}"/>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10</a:t>
            </a:r>
          </a:p>
        </p:txBody>
      </p:sp>
      <p:sp>
        <p:nvSpPr>
          <p:cNvPr id="3" name="Rectangle 2">
            <a:extLst>
              <a:ext uri="{FF2B5EF4-FFF2-40B4-BE49-F238E27FC236}">
                <a16:creationId xmlns:a16="http://schemas.microsoft.com/office/drawing/2014/main" id="{DD6B9386-1575-443E-9DD2-DD6D378B4701}"/>
              </a:ext>
            </a:extLst>
          </p:cNvPr>
          <p:cNvSpPr>
            <a:spLocks noGrp="1"/>
          </p:cNvSpPr>
          <p:nvPr/>
        </p:nvSpPr>
        <p:spPr>
          <a:xfrm>
            <a:off x="685800" y="190500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Code checks</a:t>
            </a:r>
          </a:p>
        </p:txBody>
      </p:sp>
      <p:sp>
        <p:nvSpPr>
          <p:cNvPr id="4" name="Rectangle 3">
            <a:extLst>
              <a:ext uri="{FF2B5EF4-FFF2-40B4-BE49-F238E27FC236}">
                <a16:creationId xmlns:a16="http://schemas.microsoft.com/office/drawing/2014/main" id="{F7DD096E-920C-4BAB-BC85-C4D9D92646A3}"/>
              </a:ext>
            </a:extLst>
          </p:cNvPr>
          <p:cNvSpPr>
            <a:spLocks noGrp="1"/>
          </p:cNvSpPr>
          <p:nvPr/>
        </p:nvSpPr>
        <p:spPr>
          <a:xfrm>
            <a:off x="3714750" y="190500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Validate schema, required fields or exact conditions.</a:t>
            </a:r>
          </a:p>
        </p:txBody>
      </p:sp>
      <p:sp>
        <p:nvSpPr>
          <p:cNvPr id="5" name="Rectangle 4">
            <a:extLst>
              <a:ext uri="{FF2B5EF4-FFF2-40B4-BE49-F238E27FC236}">
                <a16:creationId xmlns:a16="http://schemas.microsoft.com/office/drawing/2014/main" id="{B0EA1CC4-C98A-4AF4-8A57-A7DC8CFD6FB9}"/>
              </a:ext>
            </a:extLst>
          </p:cNvPr>
          <p:cNvSpPr>
            <a:spLocks noGrp="1"/>
          </p:cNvSpPr>
          <p:nvPr/>
        </p:nvSpPr>
        <p:spPr>
          <a:xfrm>
            <a:off x="685800" y="3190875"/>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Human review</a:t>
            </a:r>
          </a:p>
        </p:txBody>
      </p:sp>
      <p:sp>
        <p:nvSpPr>
          <p:cNvPr id="6" name="Rectangle 5">
            <a:extLst>
              <a:ext uri="{FF2B5EF4-FFF2-40B4-BE49-F238E27FC236}">
                <a16:creationId xmlns:a16="http://schemas.microsoft.com/office/drawing/2014/main" id="{DF3B24B8-C8A1-4C48-A9B2-6BD824F9FE76}"/>
              </a:ext>
            </a:extLst>
          </p:cNvPr>
          <p:cNvSpPr>
            <a:spLocks noGrp="1"/>
          </p:cNvSpPr>
          <p:nvPr/>
        </p:nvSpPr>
        <p:spPr>
          <a:xfrm>
            <a:off x="3714750" y="3190875"/>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Assess ambiguous cases using domain expertise.</a:t>
            </a:r>
          </a:p>
        </p:txBody>
      </p:sp>
      <p:sp>
        <p:nvSpPr>
          <p:cNvPr id="7" name="Rectangle 6">
            <a:extLst>
              <a:ext uri="{FF2B5EF4-FFF2-40B4-BE49-F238E27FC236}">
                <a16:creationId xmlns:a16="http://schemas.microsoft.com/office/drawing/2014/main" id="{F6C7F3BF-B36B-4D95-98FA-A58E7F5B59C6}"/>
              </a:ext>
            </a:extLst>
          </p:cNvPr>
          <p:cNvSpPr>
            <a:spLocks noGrp="1"/>
          </p:cNvSpPr>
          <p:nvPr/>
        </p:nvSpPr>
        <p:spPr>
          <a:xfrm>
            <a:off x="685800" y="447675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LLM-as-judge</a:t>
            </a:r>
          </a:p>
        </p:txBody>
      </p:sp>
      <p:sp>
        <p:nvSpPr>
          <p:cNvPr id="8" name="Rectangle 7">
            <a:extLst>
              <a:ext uri="{FF2B5EF4-FFF2-40B4-BE49-F238E27FC236}">
                <a16:creationId xmlns:a16="http://schemas.microsoft.com/office/drawing/2014/main" id="{5E067EA3-5724-4A0F-8F0B-CAE586D5E4DF}"/>
              </a:ext>
            </a:extLst>
          </p:cNvPr>
          <p:cNvSpPr>
            <a:spLocks noGrp="1"/>
          </p:cNvSpPr>
          <p:nvPr/>
        </p:nvSpPr>
        <p:spPr>
          <a:xfrm>
            <a:off x="3714750" y="447675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Score outputs against a specific written rubric.</a:t>
            </a:r>
          </a:p>
        </p:txBody>
      </p:sp>
    </p:spTree>
    <p:extLst>
      <p:ext uri="{BB962C8B-B14F-4D97-AF65-F5344CB8AC3E}">
        <p14:creationId xmlns:p14="http://schemas.microsoft.com/office/powerpoint/2010/main" val="73949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A11995-FA6B-4AD5-AF3E-91125D98189F}"/>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Prompt versions and experiments</a:t>
            </a:r>
          </a:p>
        </p:txBody>
      </p:sp>
      <p:sp>
        <p:nvSpPr>
          <p:cNvPr id="2" name="Rectangle 1">
            <a:extLst>
              <a:ext uri="{FF2B5EF4-FFF2-40B4-BE49-F238E27FC236}">
                <a16:creationId xmlns:a16="http://schemas.microsoft.com/office/drawing/2014/main" id="{B3659EF1-2AC6-49A3-87B6-BFB245F30EB8}"/>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12</a:t>
            </a:r>
          </a:p>
        </p:txBody>
      </p:sp>
      <p:sp>
        <p:nvSpPr>
          <p:cNvPr id="3" name="Rectangle 2">
            <a:extLst>
              <a:ext uri="{FF2B5EF4-FFF2-40B4-BE49-F238E27FC236}">
                <a16:creationId xmlns:a16="http://schemas.microsoft.com/office/drawing/2014/main" id="{95775C1C-006F-4010-B8E7-C9E478E59AED}"/>
              </a:ext>
            </a:extLst>
          </p:cNvPr>
          <p:cNvSpPr>
            <a:spLocks noGrp="1"/>
          </p:cNvSpPr>
          <p:nvPr/>
        </p:nvSpPr>
        <p:spPr>
          <a:xfrm>
            <a:off x="685800" y="1809750"/>
            <a:ext cx="4905375" cy="476250"/>
          </a:xfrm>
          <a:prstGeom prst="rect">
            <a:avLst/>
          </a:prstGeom>
          <a:noFill/>
          <a:ln w="0">
            <a:noFill/>
          </a:ln>
        </p:spPr>
        <p:txBody>
          <a:bodyPr>
            <a:noAutofit/>
          </a:bodyPr>
          <a:lstStyle/>
          <a:p>
            <a:pPr>
              <a:defRPr sz="2175" b="1">
                <a:solidFill>
                  <a:srgbClr val="16816B"/>
                </a:solidFill>
                <a:latin typeface="Arial"/>
                <a:ea typeface="Arial"/>
                <a:cs typeface="Arial"/>
              </a:defRPr>
            </a:pPr>
            <a:r>
              <a:rPr sz="2175" b="1">
                <a:solidFill>
                  <a:srgbClr val="16816B"/>
                </a:solidFill>
                <a:latin typeface="Arial"/>
                <a:ea typeface="Arial"/>
                <a:cs typeface="Arial"/>
              </a:rPr>
              <a:t>Baseline prompt</a:t>
            </a:r>
          </a:p>
        </p:txBody>
      </p:sp>
      <p:sp>
        <p:nvSpPr>
          <p:cNvPr id="4" name="Rectangle 3">
            <a:extLst>
              <a:ext uri="{FF2B5EF4-FFF2-40B4-BE49-F238E27FC236}">
                <a16:creationId xmlns:a16="http://schemas.microsoft.com/office/drawing/2014/main" id="{956CFCAD-1B6F-4C54-B491-9291A7B3F466}"/>
              </a:ext>
            </a:extLst>
          </p:cNvPr>
          <p:cNvSpPr>
            <a:spLocks noGrp="1"/>
          </p:cNvSpPr>
          <p:nvPr/>
        </p:nvSpPr>
        <p:spPr>
          <a:xfrm>
            <a:off x="685800" y="2476500"/>
            <a:ext cx="4905375" cy="2952750"/>
          </a:xfrm>
          <a:prstGeom prst="rect">
            <a:avLst/>
          </a:prstGeom>
          <a:noFill/>
          <a:ln w="0">
            <a:noFill/>
          </a:ln>
        </p:spPr>
        <p:txBody>
          <a:bodyPr>
            <a:noAutofit/>
          </a:bodyPr>
          <a:lstStyle/>
          <a:p>
            <a:pPr>
              <a:defRPr sz="2325" b="0">
                <a:solidFill>
                  <a:srgbClr val="163C36"/>
                </a:solidFill>
                <a:latin typeface="Arial"/>
                <a:ea typeface="Arial"/>
                <a:cs typeface="Arial"/>
              </a:defRPr>
            </a:pPr>
            <a:r>
              <a:rPr sz="2325" b="0">
                <a:solidFill>
                  <a:srgbClr val="163C36"/>
                </a:solidFill>
                <a:latin typeface="Arial"/>
                <a:ea typeface="Arial"/>
                <a:cs typeface="Arial"/>
              </a:rPr>
              <a:t>“Answer the customer’s question</a:t>
            </a:r>
          </a:p>
          <a:p>
            <a:pPr>
              <a:defRPr sz="2325" b="0">
                <a:solidFill>
                  <a:srgbClr val="163C36"/>
                </a:solidFill>
                <a:latin typeface="Arial"/>
                <a:ea typeface="Arial"/>
                <a:cs typeface="Arial"/>
              </a:defRPr>
            </a:pPr>
            <a:r>
              <a:rPr sz="2325" b="0">
                <a:solidFill>
                  <a:srgbClr val="163C36"/>
                </a:solidFill>
                <a:latin typeface="Arial"/>
                <a:ea typeface="Arial"/>
                <a:cs typeface="Arial"/>
              </a:rPr>
              <a:t>using the policy.”</a:t>
            </a:r>
          </a:p>
        </p:txBody>
      </p:sp>
      <p:sp>
        <p:nvSpPr>
          <p:cNvPr id="5" name="Rectangle 4">
            <a:extLst>
              <a:ext uri="{FF2B5EF4-FFF2-40B4-BE49-F238E27FC236}">
                <a16:creationId xmlns:a16="http://schemas.microsoft.com/office/drawing/2014/main" id="{0AD95693-746A-44A9-B694-4002CCA5D8CF}"/>
              </a:ext>
            </a:extLst>
          </p:cNvPr>
          <p:cNvSpPr>
            <a:spLocks noGrp="1"/>
          </p:cNvSpPr>
          <p:nvPr/>
        </p:nvSpPr>
        <p:spPr>
          <a:xfrm>
            <a:off x="6477000" y="1809750"/>
            <a:ext cx="4905375" cy="476250"/>
          </a:xfrm>
          <a:prstGeom prst="rect">
            <a:avLst/>
          </a:prstGeom>
          <a:noFill/>
          <a:ln w="0">
            <a:noFill/>
          </a:ln>
        </p:spPr>
        <p:txBody>
          <a:bodyPr>
            <a:noAutofit/>
          </a:bodyPr>
          <a:lstStyle/>
          <a:p>
            <a:pPr>
              <a:defRPr sz="2175" b="1">
                <a:solidFill>
                  <a:srgbClr val="16816B"/>
                </a:solidFill>
                <a:latin typeface="Arial"/>
                <a:ea typeface="Arial"/>
                <a:cs typeface="Arial"/>
              </a:defRPr>
            </a:pPr>
            <a:r>
              <a:rPr sz="2175" b="1">
                <a:solidFill>
                  <a:srgbClr val="16816B"/>
                </a:solidFill>
                <a:latin typeface="Arial"/>
                <a:ea typeface="Arial"/>
                <a:cs typeface="Arial"/>
              </a:rPr>
              <a:t>Candidate prompt</a:t>
            </a:r>
          </a:p>
        </p:txBody>
      </p:sp>
      <p:sp>
        <p:nvSpPr>
          <p:cNvPr id="6" name="Rectangle 5">
            <a:extLst>
              <a:ext uri="{FF2B5EF4-FFF2-40B4-BE49-F238E27FC236}">
                <a16:creationId xmlns:a16="http://schemas.microsoft.com/office/drawing/2014/main" id="{62974785-64EB-4801-BF55-805857D64355}"/>
              </a:ext>
            </a:extLst>
          </p:cNvPr>
          <p:cNvSpPr>
            <a:spLocks noGrp="1"/>
          </p:cNvSpPr>
          <p:nvPr/>
        </p:nvSpPr>
        <p:spPr>
          <a:xfrm>
            <a:off x="6477000" y="2476500"/>
            <a:ext cx="4905375" cy="2952750"/>
          </a:xfrm>
          <a:prstGeom prst="rect">
            <a:avLst/>
          </a:prstGeom>
          <a:noFill/>
          <a:ln w="0">
            <a:noFill/>
          </a:ln>
        </p:spPr>
        <p:txBody>
          <a:bodyPr>
            <a:noAutofit/>
          </a:bodyPr>
          <a:lstStyle/>
          <a:p>
            <a:pPr>
              <a:defRPr sz="2325" b="0">
                <a:solidFill>
                  <a:srgbClr val="163C36"/>
                </a:solidFill>
                <a:latin typeface="Arial"/>
                <a:ea typeface="Arial"/>
                <a:cs typeface="Arial"/>
              </a:defRPr>
            </a:pPr>
            <a:r>
              <a:rPr sz="2325" b="0">
                <a:solidFill>
                  <a:srgbClr val="163C36"/>
                </a:solidFill>
                <a:latin typeface="Arial"/>
                <a:ea typeface="Arial"/>
                <a:cs typeface="Arial"/>
              </a:rPr>
              <a:t>“Apply the policy to the purchase</a:t>
            </a:r>
          </a:p>
          <a:p>
            <a:pPr>
              <a:defRPr sz="2325" b="0">
                <a:solidFill>
                  <a:srgbClr val="163C36"/>
                </a:solidFill>
                <a:latin typeface="Arial"/>
                <a:ea typeface="Arial"/>
                <a:cs typeface="Arial"/>
              </a:defRPr>
            </a:pPr>
            <a:r>
              <a:rPr sz="2325" b="0">
                <a:solidFill>
                  <a:srgbClr val="163C36"/>
                </a:solidFill>
                <a:latin typeface="Arial"/>
                <a:ea typeface="Arial"/>
                <a:cs typeface="Arial"/>
              </a:rPr>
              <a:t>date. If the date is missing,</a:t>
            </a:r>
          </a:p>
          <a:p>
            <a:pPr>
              <a:defRPr sz="2325" b="0">
                <a:solidFill>
                  <a:srgbClr val="163C36"/>
                </a:solidFill>
                <a:latin typeface="Arial"/>
                <a:ea typeface="Arial"/>
                <a:cs typeface="Arial"/>
              </a:defRPr>
            </a:pPr>
            <a:r>
              <a:rPr sz="2325" b="0">
                <a:solidFill>
                  <a:srgbClr val="163C36"/>
                </a:solidFill>
                <a:latin typeface="Arial"/>
                <a:ea typeface="Arial"/>
                <a:cs typeface="Arial"/>
              </a:rPr>
              <a:t>ask for it before deciding.”</a:t>
            </a:r>
          </a:p>
        </p:txBody>
      </p:sp>
      <p:sp>
        <p:nvSpPr>
          <p:cNvPr id="7" name="Rectangle 6">
            <a:extLst>
              <a:ext uri="{FF2B5EF4-FFF2-40B4-BE49-F238E27FC236}">
                <a16:creationId xmlns:a16="http://schemas.microsoft.com/office/drawing/2014/main" id="{934A3BF7-10B1-495A-B1C1-19EAB86BD008}"/>
              </a:ext>
            </a:extLst>
          </p:cNvPr>
          <p:cNvSpPr>
            <a:spLocks noGrp="1"/>
          </p:cNvSpPr>
          <p:nvPr/>
        </p:nvSpPr>
        <p:spPr>
          <a:xfrm>
            <a:off x="685800" y="5667375"/>
            <a:ext cx="10668000" cy="523875"/>
          </a:xfrm>
          <a:prstGeom prst="rect">
            <a:avLst/>
          </a:prstGeom>
          <a:noFill/>
          <a:ln w="0">
            <a:noFill/>
          </a:ln>
        </p:spPr>
        <p:txBody>
          <a:bodyPr>
            <a:noAutofit/>
          </a:bodyPr>
          <a:lstStyle/>
          <a:p>
            <a:pPr>
              <a:defRPr sz="2250" b="1">
                <a:solidFill>
                  <a:srgbClr val="16816B"/>
                </a:solidFill>
                <a:latin typeface="Arial"/>
                <a:ea typeface="Arial"/>
                <a:cs typeface="Arial"/>
              </a:defRPr>
            </a:pPr>
            <a:r>
              <a:rPr sz="2250" b="1">
                <a:solidFill>
                  <a:srgbClr val="16816B"/>
                </a:solidFill>
                <a:latin typeface="Arial"/>
                <a:ea typeface="Arial"/>
                <a:cs typeface="Arial"/>
              </a:rPr>
              <a:t>The same dataset makes the comparison useful.</a:t>
            </a:r>
          </a:p>
        </p:txBody>
      </p:sp>
    </p:spTree>
    <p:extLst>
      <p:ext uri="{BB962C8B-B14F-4D97-AF65-F5344CB8AC3E}">
        <p14:creationId xmlns:p14="http://schemas.microsoft.com/office/powerpoint/2010/main" val="137828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43589A-C5AF-44EA-8487-FD0361CBDADF}"/>
              </a:ext>
            </a:extLst>
          </p:cNvPr>
          <p:cNvSpPr>
            <a:spLocks noGrp="1"/>
          </p:cNvSpPr>
          <p:nvPr/>
        </p:nvSpPr>
        <p:spPr>
          <a:xfrm>
            <a:off x="685800" y="552450"/>
            <a:ext cx="10668000" cy="1066800"/>
          </a:xfrm>
          <a:prstGeom prst="rect">
            <a:avLst/>
          </a:prstGeom>
          <a:noFill/>
          <a:ln w="0">
            <a:noFill/>
          </a:ln>
        </p:spPr>
        <p:txBody>
          <a:bodyPr>
            <a:noAutofit/>
          </a:bodyPr>
          <a:lstStyle/>
          <a:p>
            <a:pPr>
              <a:defRPr sz="3300" b="1">
                <a:solidFill>
                  <a:srgbClr val="163C36"/>
                </a:solidFill>
                <a:latin typeface="Arial"/>
                <a:ea typeface="Arial"/>
                <a:cs typeface="Arial"/>
              </a:defRPr>
            </a:pPr>
            <a:r>
              <a:rPr sz="3300" b="1">
                <a:solidFill>
                  <a:srgbClr val="163C36"/>
                </a:solidFill>
                <a:latin typeface="Arial"/>
                <a:ea typeface="Arial"/>
                <a:cs typeface="Arial"/>
              </a:rPr>
              <a:t>Production considerations</a:t>
            </a:r>
          </a:p>
        </p:txBody>
      </p:sp>
      <p:sp>
        <p:nvSpPr>
          <p:cNvPr id="2" name="Rectangle 1">
            <a:extLst>
              <a:ext uri="{FF2B5EF4-FFF2-40B4-BE49-F238E27FC236}">
                <a16:creationId xmlns:a16="http://schemas.microsoft.com/office/drawing/2014/main" id="{715E949B-61CD-4505-9539-89407E1DF206}"/>
              </a:ext>
            </a:extLst>
          </p:cNvPr>
          <p:cNvSpPr>
            <a:spLocks noGrp="1"/>
          </p:cNvSpPr>
          <p:nvPr/>
        </p:nvSpPr>
        <p:spPr>
          <a:xfrm>
            <a:off x="10953750" y="6238875"/>
            <a:ext cx="571500" cy="285750"/>
          </a:xfrm>
          <a:prstGeom prst="rect">
            <a:avLst/>
          </a:prstGeom>
          <a:noFill/>
          <a:ln w="0">
            <a:noFill/>
          </a:ln>
        </p:spPr>
        <p:txBody>
          <a:bodyPr>
            <a:noAutofit/>
          </a:bodyPr>
          <a:lstStyle/>
          <a:p>
            <a:pPr>
              <a:defRPr sz="1350" b="0">
                <a:solidFill>
                  <a:srgbClr val="50635C"/>
                </a:solidFill>
                <a:latin typeface="Arial"/>
                <a:ea typeface="Arial"/>
                <a:cs typeface="Arial"/>
              </a:defRPr>
            </a:pPr>
            <a:r>
              <a:rPr sz="1350" b="0">
                <a:solidFill>
                  <a:srgbClr val="50635C"/>
                </a:solidFill>
                <a:latin typeface="Arial"/>
                <a:ea typeface="Arial"/>
                <a:cs typeface="Arial"/>
              </a:rPr>
              <a:t>16</a:t>
            </a:r>
          </a:p>
        </p:txBody>
      </p:sp>
      <p:sp>
        <p:nvSpPr>
          <p:cNvPr id="3" name="Rectangle 2">
            <a:extLst>
              <a:ext uri="{FF2B5EF4-FFF2-40B4-BE49-F238E27FC236}">
                <a16:creationId xmlns:a16="http://schemas.microsoft.com/office/drawing/2014/main" id="{CA282EEB-6048-49F6-A162-6C87829982A9}"/>
              </a:ext>
            </a:extLst>
          </p:cNvPr>
          <p:cNvSpPr>
            <a:spLocks noGrp="1"/>
          </p:cNvSpPr>
          <p:nvPr/>
        </p:nvSpPr>
        <p:spPr>
          <a:xfrm>
            <a:off x="685800" y="190500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Trace data</a:t>
            </a:r>
          </a:p>
        </p:txBody>
      </p:sp>
      <p:sp>
        <p:nvSpPr>
          <p:cNvPr id="4" name="Rectangle 3">
            <a:extLst>
              <a:ext uri="{FF2B5EF4-FFF2-40B4-BE49-F238E27FC236}">
                <a16:creationId xmlns:a16="http://schemas.microsoft.com/office/drawing/2014/main" id="{A472653F-1D00-4E8A-9756-0D280259AED9}"/>
              </a:ext>
            </a:extLst>
          </p:cNvPr>
          <p:cNvSpPr>
            <a:spLocks noGrp="1"/>
          </p:cNvSpPr>
          <p:nvPr/>
        </p:nvSpPr>
        <p:spPr>
          <a:xfrm>
            <a:off x="3714750" y="190500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Record useful context and protect sensitive fields.</a:t>
            </a:r>
          </a:p>
        </p:txBody>
      </p:sp>
      <p:sp>
        <p:nvSpPr>
          <p:cNvPr id="5" name="Rectangle 4">
            <a:extLst>
              <a:ext uri="{FF2B5EF4-FFF2-40B4-BE49-F238E27FC236}">
                <a16:creationId xmlns:a16="http://schemas.microsoft.com/office/drawing/2014/main" id="{0AB90D39-880E-4CA6-AB88-4AD74B86D503}"/>
              </a:ext>
            </a:extLst>
          </p:cNvPr>
          <p:cNvSpPr>
            <a:spLocks noGrp="1"/>
          </p:cNvSpPr>
          <p:nvPr/>
        </p:nvSpPr>
        <p:spPr>
          <a:xfrm>
            <a:off x="685800" y="3190875"/>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Reproducibility</a:t>
            </a:r>
          </a:p>
        </p:txBody>
      </p:sp>
      <p:sp>
        <p:nvSpPr>
          <p:cNvPr id="6" name="Rectangle 5">
            <a:extLst>
              <a:ext uri="{FF2B5EF4-FFF2-40B4-BE49-F238E27FC236}">
                <a16:creationId xmlns:a16="http://schemas.microsoft.com/office/drawing/2014/main" id="{5DE92332-B15E-438E-B70A-8D7D1A29A089}"/>
              </a:ext>
            </a:extLst>
          </p:cNvPr>
          <p:cNvSpPr>
            <a:spLocks noGrp="1"/>
          </p:cNvSpPr>
          <p:nvPr/>
        </p:nvSpPr>
        <p:spPr>
          <a:xfrm>
            <a:off x="3714750" y="3190875"/>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Track application, prompt and evaluator versions.</a:t>
            </a:r>
          </a:p>
        </p:txBody>
      </p:sp>
      <p:sp>
        <p:nvSpPr>
          <p:cNvPr id="7" name="Rectangle 6">
            <a:extLst>
              <a:ext uri="{FF2B5EF4-FFF2-40B4-BE49-F238E27FC236}">
                <a16:creationId xmlns:a16="http://schemas.microsoft.com/office/drawing/2014/main" id="{7838FA1D-5340-4449-A96E-7E3D3D5EF2CA}"/>
              </a:ext>
            </a:extLst>
          </p:cNvPr>
          <p:cNvSpPr>
            <a:spLocks noGrp="1"/>
          </p:cNvSpPr>
          <p:nvPr/>
        </p:nvSpPr>
        <p:spPr>
          <a:xfrm>
            <a:off x="685800" y="4476750"/>
            <a:ext cx="2809875" cy="457200"/>
          </a:xfrm>
          <a:prstGeom prst="rect">
            <a:avLst/>
          </a:prstGeom>
          <a:noFill/>
          <a:ln w="0">
            <a:noFill/>
          </a:ln>
        </p:spPr>
        <p:txBody>
          <a:bodyPr>
            <a:noAutofit/>
          </a:bodyPr>
          <a:lstStyle/>
          <a:p>
            <a:pPr>
              <a:defRPr sz="2100" b="1">
                <a:solidFill>
                  <a:srgbClr val="16816B"/>
                </a:solidFill>
                <a:latin typeface="Arial"/>
                <a:ea typeface="Arial"/>
                <a:cs typeface="Arial"/>
              </a:defRPr>
            </a:pPr>
            <a:r>
              <a:rPr sz="2100" b="1">
                <a:solidFill>
                  <a:srgbClr val="16816B"/>
                </a:solidFill>
                <a:latin typeface="Arial"/>
                <a:ea typeface="Arial"/>
                <a:cs typeface="Arial"/>
              </a:rPr>
              <a:t>Operating cost</a:t>
            </a:r>
          </a:p>
        </p:txBody>
      </p:sp>
      <p:sp>
        <p:nvSpPr>
          <p:cNvPr id="8" name="Rectangle 7">
            <a:extLst>
              <a:ext uri="{FF2B5EF4-FFF2-40B4-BE49-F238E27FC236}">
                <a16:creationId xmlns:a16="http://schemas.microsoft.com/office/drawing/2014/main" id="{81F372C2-F38E-4FA8-9D00-EC90B2F18215}"/>
              </a:ext>
            </a:extLst>
          </p:cNvPr>
          <p:cNvSpPr>
            <a:spLocks noGrp="1"/>
          </p:cNvSpPr>
          <p:nvPr/>
        </p:nvSpPr>
        <p:spPr>
          <a:xfrm>
            <a:off x="3714750" y="4476750"/>
            <a:ext cx="7667625" cy="1000125"/>
          </a:xfrm>
          <a:prstGeom prst="rect">
            <a:avLst/>
          </a:prstGeom>
          <a:noFill/>
          <a:ln w="0">
            <a:noFill/>
          </a:ln>
        </p:spPr>
        <p:txBody>
          <a:bodyPr>
            <a:noAutofit/>
          </a:bodyPr>
          <a:lstStyle/>
          <a:p>
            <a:pPr>
              <a:defRPr sz="2175" b="0">
                <a:solidFill>
                  <a:srgbClr val="163C36"/>
                </a:solidFill>
                <a:latin typeface="Arial"/>
                <a:ea typeface="Arial"/>
                <a:cs typeface="Arial"/>
              </a:defRPr>
            </a:pPr>
            <a:r>
              <a:rPr sz="2175" b="0">
                <a:solidFill>
                  <a:srgbClr val="163C36"/>
                </a:solidFill>
                <a:latin typeface="Arial"/>
                <a:ea typeface="Arial"/>
                <a:cs typeface="Arial"/>
              </a:rPr>
              <a:t>Choose appropriate sampling and evaluation coverage.</a:t>
            </a:r>
          </a:p>
        </p:txBody>
      </p:sp>
    </p:spTree>
    <p:extLst>
      <p:ext uri="{BB962C8B-B14F-4D97-AF65-F5344CB8AC3E}">
        <p14:creationId xmlns:p14="http://schemas.microsoft.com/office/powerpoint/2010/main" val="94931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895</Words>
  <Application>Microsoft Office PowerPoint</Application>
  <DocSecurity>0</DocSecurity>
  <PresentationFormat>Widescreen</PresentationFormat>
  <Paragraphs>102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Marien Escobar</cp:lastModifiedBy>
  <cp:revision>1</cp:revision>
  <dcterms:created xsi:type="dcterms:W3CDTF">2026-10-12T22:17:10Z</dcterms:created>
  <dcterms:modified xsi:type="dcterms:W3CDTF">2026-10-13T14:15:38Z</dcterms:modified>
</cp:coreProperties>
</file>